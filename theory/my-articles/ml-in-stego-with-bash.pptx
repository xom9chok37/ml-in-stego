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70" d="100"/>
          <a:sy n="70" d="100"/>
        </p:scale>
        <p:origin x="92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01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68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90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61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89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16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59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03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88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90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34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648E8-E294-4218-BA1E-0147C0A4F9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C32AB-CEAE-485B-AC54-1D71E6280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910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83075" y="4428457"/>
            <a:ext cx="8825658" cy="2119681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</a:pPr>
            <a:r>
              <a:rPr lang="ru-RU" altLang="ru-RU" sz="1800" smtClean="0">
                <a:latin typeface="Arial" panose="020B0604020202020204" pitchFamily="34" charset="0"/>
              </a:rPr>
              <a:t>А.А</a:t>
            </a:r>
            <a:r>
              <a:rPr lang="ru-RU" altLang="ru-RU" sz="1800">
                <a:latin typeface="Arial" panose="020B0604020202020204" pitchFamily="34" charset="0"/>
              </a:rPr>
              <a:t>. Костров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Научный руководитель: доцент </a:t>
            </a:r>
            <a:r>
              <a:rPr lang="ru-RU" altLang="ru-RU" sz="1800" smtClean="0">
                <a:latin typeface="Arial" panose="020B0604020202020204" pitchFamily="34" charset="0"/>
              </a:rPr>
              <a:t>А.С</a:t>
            </a:r>
            <a:r>
              <a:rPr lang="ru-RU" altLang="ru-RU" sz="1800">
                <a:latin typeface="Arial" panose="020B0604020202020204" pitchFamily="34" charset="0"/>
              </a:rPr>
              <a:t>. </a:t>
            </a:r>
            <a:r>
              <a:rPr lang="ru-RU" altLang="ru-RU" sz="1800" smtClean="0">
                <a:latin typeface="Arial" panose="020B0604020202020204" pitchFamily="34" charset="0"/>
              </a:rPr>
              <a:t>Жук</a:t>
            </a:r>
            <a:br>
              <a:rPr lang="ru-RU" altLang="ru-RU" sz="1800" smtClean="0">
                <a:latin typeface="Arial" panose="020B0604020202020204" pitchFamily="34" charset="0"/>
              </a:rPr>
            </a:br>
            <a:r>
              <a:rPr lang="ru-RU" altLang="ru-RU" sz="1800" smtClean="0">
                <a:latin typeface="Arial" panose="020B0604020202020204" pitchFamily="34" charset="0"/>
              </a:rPr>
              <a:t>Кубанский государственный университет</a:t>
            </a:r>
            <a:br>
              <a:rPr lang="ru-RU" altLang="ru-RU" sz="1800" smtClean="0">
                <a:latin typeface="Arial" panose="020B0604020202020204" pitchFamily="34" charset="0"/>
              </a:rPr>
            </a:br>
            <a:r>
              <a:rPr lang="ru-RU" altLang="ru-RU" sz="1800" smtClean="0">
                <a:latin typeface="Arial" panose="020B0604020202020204" pitchFamily="34" charset="0"/>
              </a:rPr>
              <a:t>Факультет компьютерных технологий и прикладной математики</a:t>
            </a:r>
            <a:endParaRPr lang="ru-RU" sz="60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075" y="2515736"/>
            <a:ext cx="873046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 методов глубокого обучения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 выявления вредоносного ПО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средствами </a:t>
            </a:r>
            <a:r>
              <a:rPr kumimoji="0" lang="ru-RU" altLang="ru-RU" sz="3200" b="1" i="0" u="none" strike="noStrike" cap="none" normalizeH="0" baseline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стегоанализа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787747" y="152365"/>
            <a:ext cx="8730467" cy="2138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1400">
                <a:latin typeface="Arial" panose="020B0604020202020204" pitchFamily="34" charset="0"/>
              </a:rPr>
              <a:t>VIII ВСЕРОССИЙСКАЯ НАУЧНО-ПРАКТИЧЕСКАЯ</a:t>
            </a:r>
          </a:p>
          <a:p>
            <a:pPr>
              <a:lnSpc>
                <a:spcPct val="100000"/>
              </a:lnSpc>
            </a:pPr>
            <a:r>
              <a:rPr lang="ru-RU" altLang="ru-RU" sz="1400">
                <a:latin typeface="Arial" panose="020B0604020202020204" pitchFamily="34" charset="0"/>
              </a:rPr>
              <a:t>КОНФЕРЕНЦИЯ МОЛОДЫХ УЧЕНЫХ</a:t>
            </a:r>
          </a:p>
          <a:p>
            <a:pPr>
              <a:lnSpc>
                <a:spcPct val="100000"/>
              </a:lnSpc>
            </a:pPr>
            <a:r>
              <a:rPr lang="ru-RU" altLang="ru-RU" sz="1400">
                <a:latin typeface="Arial" panose="020B0604020202020204" pitchFamily="34" charset="0"/>
              </a:rPr>
              <a:t>"ПРИКЛАДНАЯ МАТЕМАТИКА: СОВРЕМЕННЫЕ ПРОБЛЕМЫ</a:t>
            </a:r>
          </a:p>
          <a:p>
            <a:pPr>
              <a:lnSpc>
                <a:spcPct val="100000"/>
              </a:lnSpc>
            </a:pPr>
            <a:r>
              <a:rPr lang="ru-RU" altLang="ru-RU" sz="1400">
                <a:latin typeface="Arial" panose="020B0604020202020204" pitchFamily="34" charset="0"/>
              </a:rPr>
              <a:t>МАТЕМАТИКИ, ИНФОРМАТИКИ И МОДЕЛИРОВАНИЯ"</a:t>
            </a:r>
          </a:p>
          <a:p>
            <a:pPr>
              <a:lnSpc>
                <a:spcPct val="100000"/>
              </a:lnSpc>
            </a:pPr>
            <a:r>
              <a:rPr lang="ru-RU" altLang="ru-RU" sz="1400">
                <a:latin typeface="Arial" panose="020B0604020202020204" pitchFamily="34" charset="0"/>
              </a:rPr>
              <a:t>г. Краснодар, ул. Ставропольская 149,</a:t>
            </a:r>
          </a:p>
          <a:p>
            <a:pPr>
              <a:lnSpc>
                <a:spcPct val="100000"/>
              </a:lnSpc>
            </a:pPr>
            <a:r>
              <a:rPr lang="ru-RU" altLang="ru-RU" sz="1400">
                <a:latin typeface="Arial" panose="020B0604020202020204" pitchFamily="34" charset="0"/>
              </a:rPr>
              <a:t>13-18 апреля, 2026 года</a:t>
            </a:r>
            <a:endParaRPr lang="ru-RU" sz="500"/>
          </a:p>
        </p:txBody>
      </p:sp>
    </p:spTree>
    <p:extLst>
      <p:ext uri="{BB962C8B-B14F-4D97-AF65-F5344CB8AC3E}">
        <p14:creationId xmlns:p14="http://schemas.microsoft.com/office/powerpoint/2010/main" val="418203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944" y="201485"/>
            <a:ext cx="10515600" cy="1325563"/>
          </a:xfrm>
        </p:spPr>
        <p:txBody>
          <a:bodyPr/>
          <a:lstStyle/>
          <a:p>
            <a:r>
              <a:rPr lang="ru-RU" b="1" smtClean="0"/>
              <a:t>Введение</a:t>
            </a:r>
            <a:endParaRPr lang="ru-RU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9204" y="1609344"/>
            <a:ext cx="11164824" cy="4631627"/>
          </a:xfrm>
        </p:spPr>
        <p:txBody>
          <a:bodyPr>
            <a:normAutofit fontScale="92500" lnSpcReduction="10000"/>
          </a:bodyPr>
          <a:lstStyle/>
          <a:p>
            <a:r>
              <a:rPr lang="ru-RU" b="1"/>
              <a:t>Цель работы:</a:t>
            </a:r>
            <a:r>
              <a:rPr lang="ru-RU"/>
              <a:t/>
            </a:r>
            <a:br>
              <a:rPr lang="ru-RU"/>
            </a:br>
            <a:r>
              <a:rPr lang="ru-RU" smtClean="0"/>
              <a:t>воспроизвести </a:t>
            </a:r>
            <a:r>
              <a:rPr lang="ru-RU"/>
              <a:t>результаты современных исследований по применению глубокого обучения </a:t>
            </a:r>
            <a:r>
              <a:rPr lang="ru-RU" smtClean="0"/>
              <a:t>в стегоанализе,</a:t>
            </a:r>
            <a:r>
              <a:rPr lang="ru-RU" smtClean="0"/>
              <a:t> сформировать </a:t>
            </a:r>
            <a:r>
              <a:rPr lang="ru-RU"/>
              <a:t>датасеты изображений с </a:t>
            </a:r>
            <a:r>
              <a:rPr lang="ru-RU"/>
              <a:t>реальными </a:t>
            </a:r>
            <a:r>
              <a:rPr lang="ru-RU" smtClean="0"/>
              <a:t>вредоносными скриптами</a:t>
            </a:r>
            <a:r>
              <a:rPr lang="ru-RU"/>
              <a:t>, встроенными разными стеганографическими методами</a:t>
            </a:r>
            <a:r>
              <a:rPr lang="ru-RU"/>
              <a:t>, </a:t>
            </a:r>
            <a:r>
              <a:rPr lang="ru-RU" smtClean="0"/>
              <a:t>и оценить </a:t>
            </a:r>
            <a:r>
              <a:rPr lang="ru-RU"/>
              <a:t>точность обнаружения</a:t>
            </a:r>
            <a:endParaRPr lang="ru-RU" b="1" smtClean="0"/>
          </a:p>
          <a:p>
            <a:r>
              <a:rPr lang="ru-RU" b="1" smtClean="0"/>
              <a:t>Актуальность </a:t>
            </a:r>
            <a:r>
              <a:rPr lang="ru-RU" b="1"/>
              <a:t>темы:</a:t>
            </a:r>
            <a:endParaRPr lang="ru-RU"/>
          </a:p>
          <a:p>
            <a:r>
              <a:rPr lang="ru-RU" smtClean="0"/>
              <a:t>рост </a:t>
            </a:r>
            <a:r>
              <a:rPr lang="ru-RU"/>
              <a:t>использования стеганографии для скрытой передачи вредоносного ПО</a:t>
            </a:r>
          </a:p>
          <a:p>
            <a:r>
              <a:rPr lang="ru-RU" smtClean="0"/>
              <a:t>необходимость </a:t>
            </a:r>
            <a:r>
              <a:rPr lang="ru-RU"/>
              <a:t>автоматического обнаружения </a:t>
            </a:r>
            <a:r>
              <a:rPr lang="ru-RU" err="1"/>
              <a:t>стегоконтейнеров</a:t>
            </a:r>
            <a:endParaRPr lang="ru-RU"/>
          </a:p>
          <a:p>
            <a:r>
              <a:rPr lang="ru-RU" smtClean="0"/>
              <a:t>развитие </a:t>
            </a:r>
            <a:r>
              <a:rPr lang="ru-RU"/>
              <a:t>методов глубокого обучения для задач компьютерного зрения и </a:t>
            </a:r>
            <a:r>
              <a:rPr lang="ru-RU" smtClean="0"/>
              <a:t>стегоанализа</a:t>
            </a:r>
          </a:p>
          <a:p>
            <a:r>
              <a:rPr lang="ru-RU" smtClean="0"/>
              <a:t>отсутствие исследований, оценивающих </a:t>
            </a:r>
            <a:r>
              <a:rPr lang="ru-RU"/>
              <a:t>эффективность нейросетевых распознавателей </a:t>
            </a:r>
            <a:r>
              <a:rPr lang="ru-RU"/>
              <a:t>на </a:t>
            </a:r>
            <a:r>
              <a:rPr lang="ru-RU" smtClean="0"/>
              <a:t>реальных образцах </a:t>
            </a:r>
            <a:r>
              <a:rPr lang="ru-RU"/>
              <a:t>вредоносных shell-скриптов</a:t>
            </a:r>
          </a:p>
          <a:p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12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Основные понятия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/>
              <a:t>Стеганография</a:t>
            </a:r>
            <a:r>
              <a:rPr lang="ru-RU"/>
              <a:t> – скрытие данных в мультимедийных файлах (изображения, аудио, видео</a:t>
            </a:r>
            <a:r>
              <a:rPr lang="ru-RU" smtClean="0"/>
              <a:t>)</a:t>
            </a:r>
            <a:r>
              <a:rPr lang="ru-RU"/>
              <a:t/>
            </a:r>
            <a:br>
              <a:rPr lang="ru-RU"/>
            </a:br>
            <a:r>
              <a:rPr lang="ru-RU" b="1" err="1"/>
              <a:t>Стегоанализ</a:t>
            </a:r>
            <a:r>
              <a:rPr lang="ru-RU"/>
              <a:t> – обнаружение скрытых </a:t>
            </a:r>
            <a:r>
              <a:rPr lang="ru-RU" smtClean="0"/>
              <a:t>данных</a:t>
            </a:r>
            <a:endParaRPr lang="ru-RU"/>
          </a:p>
          <a:p>
            <a:r>
              <a:rPr lang="ru-RU" b="1"/>
              <a:t>Методы встраивания:</a:t>
            </a:r>
            <a:endParaRPr lang="ru-RU"/>
          </a:p>
          <a:p>
            <a:r>
              <a:rPr lang="en-US"/>
              <a:t>LSB (Least Significant Bit)</a:t>
            </a:r>
          </a:p>
          <a:p>
            <a:r>
              <a:rPr lang="en-US"/>
              <a:t>S-UNIWARD (</a:t>
            </a:r>
            <a:r>
              <a:rPr lang="ru-RU"/>
              <a:t>современный адаптивный метод)</a:t>
            </a:r>
          </a:p>
          <a:p>
            <a:r>
              <a:rPr lang="ru-RU"/>
              <a:t>и</a:t>
            </a:r>
            <a:r>
              <a:rPr lang="ru-RU" smtClean="0"/>
              <a:t>нструменты</a:t>
            </a:r>
            <a:r>
              <a:rPr lang="ru-RU"/>
              <a:t>: </a:t>
            </a:r>
            <a:r>
              <a:rPr lang="en-US" err="1"/>
              <a:t>Steghide</a:t>
            </a:r>
            <a:r>
              <a:rPr lang="en-US"/>
              <a:t>, </a:t>
            </a:r>
            <a:r>
              <a:rPr lang="en-US" err="1"/>
              <a:t>Stegano</a:t>
            </a:r>
            <a:endParaRPr lang="en-US"/>
          </a:p>
          <a:p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8743117" y="3511357"/>
            <a:ext cx="2913192" cy="24081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922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Стеганография в </a:t>
            </a:r>
            <a:r>
              <a:rPr lang="ru-RU" b="1" err="1" smtClean="0"/>
              <a:t>кибератаках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smtClean="0"/>
              <a:t>Примеры </a:t>
            </a:r>
            <a:r>
              <a:rPr lang="ru-RU" b="1" smtClean="0"/>
              <a:t>использования:</a:t>
            </a:r>
            <a:endParaRPr lang="ru-RU"/>
          </a:p>
          <a:p>
            <a:r>
              <a:rPr lang="en-US" smtClean="0"/>
              <a:t>APT37</a:t>
            </a:r>
            <a:r>
              <a:rPr lang="en-US"/>
              <a:t>, </a:t>
            </a:r>
            <a:r>
              <a:rPr lang="en-US" err="1"/>
              <a:t>MuddyWater</a:t>
            </a:r>
            <a:endParaRPr lang="en-US"/>
          </a:p>
          <a:p>
            <a:r>
              <a:rPr lang="ru-RU"/>
              <a:t>д</a:t>
            </a:r>
            <a:r>
              <a:rPr lang="ru-RU" smtClean="0"/>
              <a:t>оставка </a:t>
            </a:r>
            <a:r>
              <a:rPr lang="ru-RU"/>
              <a:t>вредоносных скриптов через изображения</a:t>
            </a:r>
          </a:p>
          <a:p>
            <a:r>
              <a:rPr lang="ru-RU" b="1" smtClean="0"/>
              <a:t>Встраивание:</a:t>
            </a:r>
            <a:endParaRPr lang="ru-RU"/>
          </a:p>
          <a:p>
            <a:r>
              <a:rPr lang="ru-RU"/>
              <a:t>к</a:t>
            </a:r>
            <a:r>
              <a:rPr lang="ru-RU" smtClean="0"/>
              <a:t>онкатенация </a:t>
            </a:r>
            <a:r>
              <a:rPr lang="ru-RU"/>
              <a:t>(</a:t>
            </a:r>
            <a:r>
              <a:rPr lang="en-US"/>
              <a:t>EOF-append)</a:t>
            </a:r>
          </a:p>
          <a:p>
            <a:r>
              <a:rPr lang="ru-RU"/>
              <a:t>м</a:t>
            </a:r>
            <a:r>
              <a:rPr lang="ru-RU" smtClean="0"/>
              <a:t>етаданные </a:t>
            </a:r>
            <a:r>
              <a:rPr lang="ru-RU"/>
              <a:t>(</a:t>
            </a:r>
            <a:r>
              <a:rPr lang="en-US"/>
              <a:t>EXIF, XMP)</a:t>
            </a:r>
          </a:p>
          <a:p>
            <a:r>
              <a:rPr lang="ru-RU"/>
              <a:t>с</a:t>
            </a:r>
            <a:r>
              <a:rPr lang="ru-RU" smtClean="0"/>
              <a:t>теганография </a:t>
            </a:r>
            <a:r>
              <a:rPr lang="ru-RU"/>
              <a:t>(</a:t>
            </a:r>
            <a:r>
              <a:rPr lang="en-US" err="1"/>
              <a:t>Steghide</a:t>
            </a:r>
            <a:r>
              <a:rPr lang="en-US"/>
              <a:t>, </a:t>
            </a:r>
            <a:r>
              <a:rPr lang="en-US" err="1"/>
              <a:t>Stegano</a:t>
            </a:r>
            <a:r>
              <a:rPr lang="en-US"/>
              <a:t>)</a:t>
            </a:r>
          </a:p>
          <a:p>
            <a:r>
              <a:rPr lang="ru-RU"/>
              <a:t>п</a:t>
            </a:r>
            <a:r>
              <a:rPr lang="ru-RU" smtClean="0"/>
              <a:t>олиглот-файлы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52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М</a:t>
            </a:r>
            <a:r>
              <a:rPr lang="ru-RU" b="1" smtClean="0"/>
              <a:t>етоды </a:t>
            </a:r>
            <a:r>
              <a:rPr lang="ru-RU" b="1" err="1" smtClean="0"/>
              <a:t>стегоанализа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smtClean="0"/>
              <a:t>Традиционные </a:t>
            </a:r>
            <a:r>
              <a:rPr lang="ru-RU" b="1"/>
              <a:t>методы:</a:t>
            </a:r>
            <a:endParaRPr lang="ru-RU"/>
          </a:p>
          <a:p>
            <a:r>
              <a:rPr lang="ru-RU" smtClean="0"/>
              <a:t>статистические </a:t>
            </a:r>
            <a:r>
              <a:rPr lang="ru-RU"/>
              <a:t>тесты</a:t>
            </a:r>
          </a:p>
          <a:p>
            <a:r>
              <a:rPr lang="ru-RU" smtClean="0"/>
              <a:t>богатые </a:t>
            </a:r>
            <a:r>
              <a:rPr lang="ru-RU"/>
              <a:t>модели (</a:t>
            </a:r>
            <a:r>
              <a:rPr lang="ru-RU" err="1"/>
              <a:t>Rich</a:t>
            </a:r>
            <a:r>
              <a:rPr lang="ru-RU"/>
              <a:t> </a:t>
            </a:r>
            <a:r>
              <a:rPr lang="ru-RU" err="1"/>
              <a:t>Models</a:t>
            </a:r>
            <a:r>
              <a:rPr lang="ru-RU"/>
              <a:t>) + ансамблевый </a:t>
            </a:r>
            <a:r>
              <a:rPr lang="ru-RU" smtClean="0"/>
              <a:t>классификатор</a:t>
            </a:r>
            <a:endParaRPr lang="ru-RU"/>
          </a:p>
          <a:p>
            <a:r>
              <a:rPr lang="ru-RU" b="1" err="1"/>
              <a:t>Нейросетевые</a:t>
            </a:r>
            <a:r>
              <a:rPr lang="ru-RU" b="1"/>
              <a:t> </a:t>
            </a:r>
            <a:r>
              <a:rPr lang="ru-RU" b="1" smtClean="0"/>
              <a:t>методы:</a:t>
            </a:r>
            <a:endParaRPr lang="ru-RU"/>
          </a:p>
          <a:p>
            <a:r>
              <a:rPr lang="ru-RU" err="1"/>
              <a:t>Yedroudj-Net</a:t>
            </a:r>
            <a:r>
              <a:rPr lang="ru-RU"/>
              <a:t> (2018)</a:t>
            </a:r>
          </a:p>
          <a:p>
            <a:r>
              <a:rPr lang="ru-RU" err="1"/>
              <a:t>SRNet</a:t>
            </a:r>
            <a:r>
              <a:rPr lang="ru-RU"/>
              <a:t> (2019)</a:t>
            </a:r>
          </a:p>
          <a:p>
            <a:r>
              <a:rPr lang="ru-RU" err="1"/>
              <a:t>ReST-Net</a:t>
            </a:r>
            <a:r>
              <a:rPr lang="ru-RU"/>
              <a:t> (2018)</a:t>
            </a:r>
          </a:p>
        </p:txBody>
      </p:sp>
    </p:spTree>
    <p:extLst>
      <p:ext uri="{BB962C8B-B14F-4D97-AF65-F5344CB8AC3E}">
        <p14:creationId xmlns:p14="http://schemas.microsoft.com/office/powerpoint/2010/main" val="256069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325" y="0"/>
            <a:ext cx="10515600" cy="1325563"/>
          </a:xfrm>
        </p:spPr>
        <p:txBody>
          <a:bodyPr>
            <a:normAutofit/>
          </a:bodyPr>
          <a:lstStyle/>
          <a:p>
            <a:r>
              <a:rPr lang="ru-RU" b="1" smtClean="0"/>
              <a:t>Архитектура </a:t>
            </a:r>
            <a:r>
              <a:rPr lang="ru-RU" b="1" err="1" smtClean="0"/>
              <a:t>Yedroudj-Net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1325" y="1051754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b="1" smtClean="0"/>
              <a:t>Структура </a:t>
            </a:r>
            <a:r>
              <a:rPr lang="ru-RU" sz="2000" b="1"/>
              <a:t>сети:</a:t>
            </a:r>
            <a:endParaRPr lang="ru-RU" sz="2000"/>
          </a:p>
          <a:p>
            <a:r>
              <a:rPr lang="ru-RU" sz="2000" smtClean="0"/>
              <a:t>блок </a:t>
            </a:r>
            <a:r>
              <a:rPr lang="ru-RU" sz="2000"/>
              <a:t>предобработки (30 фильтров высоких частот)</a:t>
            </a:r>
          </a:p>
          <a:p>
            <a:r>
              <a:rPr lang="ru-RU" sz="2000"/>
              <a:t>5 </a:t>
            </a:r>
            <a:r>
              <a:rPr lang="ru-RU" sz="2000" err="1"/>
              <a:t>свёрточных</a:t>
            </a:r>
            <a:r>
              <a:rPr lang="ru-RU" sz="2000"/>
              <a:t> блоков</a:t>
            </a:r>
          </a:p>
          <a:p>
            <a:r>
              <a:rPr lang="ru-RU" sz="2000" err="1" smtClean="0"/>
              <a:t>полносвязный</a:t>
            </a:r>
            <a:r>
              <a:rPr lang="ru-RU" sz="2000" smtClean="0"/>
              <a:t> </a:t>
            </a:r>
            <a:r>
              <a:rPr lang="ru-RU" sz="2000"/>
              <a:t>классификатор + </a:t>
            </a:r>
            <a:r>
              <a:rPr lang="ru-RU" sz="2000" err="1"/>
              <a:t>softmax</a:t>
            </a:r>
            <a:endParaRPr lang="ru-RU" sz="2000"/>
          </a:p>
          <a:p>
            <a:r>
              <a:rPr lang="ru-RU" sz="2000" b="1"/>
              <a:t>Преимущества:</a:t>
            </a:r>
            <a:endParaRPr lang="ru-RU" sz="2000"/>
          </a:p>
          <a:p>
            <a:r>
              <a:rPr lang="ru-RU" sz="2000" smtClean="0"/>
              <a:t>малая </a:t>
            </a:r>
            <a:r>
              <a:rPr lang="ru-RU" sz="2000"/>
              <a:t>база данных для обучения</a:t>
            </a:r>
          </a:p>
          <a:p>
            <a:r>
              <a:rPr lang="ru-RU" sz="2000" smtClean="0"/>
              <a:t>высокая </a:t>
            </a:r>
            <a:r>
              <a:rPr lang="ru-RU" sz="2000"/>
              <a:t>точность без аугментации</a:t>
            </a:r>
          </a:p>
          <a:p>
            <a:endParaRPr lang="ru-RU" sz="2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26" y="4024873"/>
            <a:ext cx="9960398" cy="22597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343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Подготовка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err="1"/>
              <a:t>Датасеты</a:t>
            </a:r>
            <a:r>
              <a:rPr lang="ru-RU" b="1"/>
              <a:t>:</a:t>
            </a:r>
            <a:endParaRPr lang="ru-RU"/>
          </a:p>
          <a:p>
            <a:r>
              <a:rPr lang="en-US" err="1"/>
              <a:t>BOSSBase</a:t>
            </a:r>
            <a:r>
              <a:rPr lang="en-US"/>
              <a:t> 1.01 (10 000 </a:t>
            </a:r>
            <a:r>
              <a:rPr lang="ru-RU" smtClean="0"/>
              <a:t>изображений </a:t>
            </a:r>
            <a:r>
              <a:rPr lang="ru-RU" smtClean="0"/>
              <a:t>256×256</a:t>
            </a:r>
            <a:r>
              <a:rPr lang="ru-RU"/>
              <a:t>)</a:t>
            </a:r>
          </a:p>
          <a:p>
            <a:r>
              <a:rPr lang="en-US"/>
              <a:t>S-UNIWARD (</a:t>
            </a:r>
            <a:r>
              <a:rPr lang="ru-RU" smtClean="0"/>
              <a:t>шум: 0</a:t>
            </a:r>
            <a:r>
              <a:rPr lang="en-US"/>
              <a:t>,</a:t>
            </a:r>
            <a:r>
              <a:rPr lang="ru-RU" smtClean="0"/>
              <a:t>1</a:t>
            </a:r>
            <a:r>
              <a:rPr lang="en-US" smtClean="0"/>
              <a:t>-</a:t>
            </a:r>
            <a:r>
              <a:rPr lang="ru-RU" smtClean="0"/>
              <a:t>0</a:t>
            </a:r>
            <a:r>
              <a:rPr lang="en-US"/>
              <a:t>,</a:t>
            </a:r>
            <a:r>
              <a:rPr lang="ru-RU" smtClean="0"/>
              <a:t>5 </a:t>
            </a:r>
            <a:r>
              <a:rPr lang="en-US" err="1"/>
              <a:t>bpp</a:t>
            </a:r>
            <a:r>
              <a:rPr lang="en-US"/>
              <a:t>)</a:t>
            </a:r>
          </a:p>
          <a:p>
            <a:r>
              <a:rPr lang="en-US" err="1"/>
              <a:t>Steghide</a:t>
            </a:r>
            <a:r>
              <a:rPr lang="en-US"/>
              <a:t> + </a:t>
            </a:r>
            <a:r>
              <a:rPr lang="ru-RU"/>
              <a:t>вредоносные скрипты</a:t>
            </a:r>
          </a:p>
          <a:p>
            <a:r>
              <a:rPr lang="en-US" err="1"/>
              <a:t>Stegano</a:t>
            </a:r>
            <a:r>
              <a:rPr lang="en-US"/>
              <a:t> + </a:t>
            </a:r>
            <a:r>
              <a:rPr lang="ru-RU"/>
              <a:t>вредоносные скрипты</a:t>
            </a:r>
          </a:p>
          <a:p>
            <a:r>
              <a:rPr lang="en-US"/>
              <a:t>SHELL (</a:t>
            </a:r>
            <a:r>
              <a:rPr lang="ru-RU"/>
              <a:t>смешанный </a:t>
            </a:r>
            <a:r>
              <a:rPr lang="ru-RU" err="1"/>
              <a:t>датасет</a:t>
            </a:r>
            <a:r>
              <a:rPr lang="ru-RU"/>
              <a:t>)</a:t>
            </a:r>
          </a:p>
          <a:p>
            <a:r>
              <a:rPr lang="ru-RU" b="1"/>
              <a:t>Вредоносные скрипты:</a:t>
            </a:r>
            <a:endParaRPr lang="ru-RU"/>
          </a:p>
          <a:p>
            <a:r>
              <a:rPr lang="en-US"/>
              <a:t>Anubis </a:t>
            </a:r>
            <a:r>
              <a:rPr lang="en-US" smtClean="0"/>
              <a:t>(</a:t>
            </a:r>
            <a:r>
              <a:rPr lang="ru-RU" smtClean="0"/>
              <a:t>вирус-вымогатель</a:t>
            </a:r>
            <a:r>
              <a:rPr lang="ru-RU"/>
              <a:t>)</a:t>
            </a:r>
          </a:p>
          <a:p>
            <a:r>
              <a:rPr lang="en-US"/>
              <a:t>AWFULSHRED </a:t>
            </a:r>
            <a:r>
              <a:rPr lang="en-US" smtClean="0"/>
              <a:t>(wiper</a:t>
            </a:r>
            <a:r>
              <a:rPr lang="ru-RU" smtClean="0"/>
              <a:t>)</a:t>
            </a:r>
            <a:endParaRPr lang="ru-RU"/>
          </a:p>
          <a:p>
            <a:r>
              <a:rPr lang="en-US" err="1"/>
              <a:t>DarkRadiation</a:t>
            </a:r>
            <a:r>
              <a:rPr lang="en-US"/>
              <a:t> </a:t>
            </a:r>
            <a:r>
              <a:rPr lang="en-US" smtClean="0"/>
              <a:t>(</a:t>
            </a:r>
            <a:r>
              <a:rPr lang="ru-RU" smtClean="0"/>
              <a:t>вирус-вымогатель </a:t>
            </a:r>
            <a:r>
              <a:rPr lang="ru-RU"/>
              <a:t>для </a:t>
            </a:r>
            <a:r>
              <a:rPr lang="en-US" smtClean="0"/>
              <a:t>Linux)</a:t>
            </a:r>
            <a:endParaRPr lang="en-US"/>
          </a:p>
          <a:p>
            <a:r>
              <a:rPr lang="en-US" err="1"/>
              <a:t>IRCbot</a:t>
            </a:r>
            <a:r>
              <a:rPr lang="en-US"/>
              <a:t> (</a:t>
            </a:r>
            <a:r>
              <a:rPr lang="ru-RU"/>
              <a:t>бот для удалённого управления)</a:t>
            </a:r>
          </a:p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085" y="2836876"/>
            <a:ext cx="5043715" cy="20170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405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Обучение 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/>
              <a:t>Параметры обучения:</a:t>
            </a:r>
            <a:endParaRPr lang="ru-RU"/>
          </a:p>
          <a:p>
            <a:r>
              <a:rPr lang="ru-RU" smtClean="0"/>
              <a:t>оптимизатор</a:t>
            </a:r>
            <a:r>
              <a:rPr lang="ru-RU"/>
              <a:t>: </a:t>
            </a:r>
            <a:r>
              <a:rPr lang="en-US" smtClean="0"/>
              <a:t>SGD</a:t>
            </a:r>
            <a:endParaRPr lang="ru-RU" smtClean="0"/>
          </a:p>
          <a:p>
            <a:r>
              <a:rPr lang="ru-RU"/>
              <a:t>э</a:t>
            </a:r>
            <a:r>
              <a:rPr lang="ru-RU" smtClean="0"/>
              <a:t>похи</a:t>
            </a:r>
            <a:r>
              <a:rPr lang="ru-RU"/>
              <a:t>: 400</a:t>
            </a:r>
          </a:p>
          <a:p>
            <a:r>
              <a:rPr lang="en-US" smtClean="0"/>
              <a:t>batch </a:t>
            </a:r>
            <a:r>
              <a:rPr lang="en-US"/>
              <a:t>size: 32</a:t>
            </a:r>
          </a:p>
          <a:p>
            <a:r>
              <a:rPr lang="ru-RU" smtClean="0"/>
              <a:t>инициализация </a:t>
            </a:r>
            <a:r>
              <a:rPr lang="ru-RU"/>
              <a:t>весов: </a:t>
            </a:r>
            <a:r>
              <a:rPr lang="en-US"/>
              <a:t>Xavier</a:t>
            </a:r>
          </a:p>
          <a:p>
            <a:r>
              <a:rPr lang="en-US" smtClean="0"/>
              <a:t>learning </a:t>
            </a:r>
            <a:r>
              <a:rPr lang="en-US"/>
              <a:t>rate: </a:t>
            </a:r>
            <a:r>
              <a:rPr lang="ru-RU"/>
              <a:t>уменьшение каждые 162 эпохи</a:t>
            </a:r>
          </a:p>
          <a:p>
            <a:r>
              <a:rPr lang="ru-RU" b="1"/>
              <a:t>Обучение на:</a:t>
            </a:r>
            <a:endParaRPr lang="ru-RU"/>
          </a:p>
          <a:p>
            <a:r>
              <a:rPr lang="en-US"/>
              <a:t>S-UNIWARD </a:t>
            </a:r>
            <a:r>
              <a:rPr lang="en-US" smtClean="0"/>
              <a:t>0</a:t>
            </a:r>
            <a:r>
              <a:rPr lang="ru-RU"/>
              <a:t>,</a:t>
            </a:r>
            <a:r>
              <a:rPr lang="en-US" smtClean="0"/>
              <a:t>4 </a:t>
            </a:r>
            <a:r>
              <a:rPr lang="en-US" err="1"/>
              <a:t>bpp</a:t>
            </a:r>
            <a:endParaRPr lang="en-US"/>
          </a:p>
          <a:p>
            <a:r>
              <a:rPr lang="en-US"/>
              <a:t>SHELL (</a:t>
            </a:r>
            <a:r>
              <a:rPr lang="ru-RU"/>
              <a:t>смешанный </a:t>
            </a:r>
            <a:r>
              <a:rPr lang="ru-RU" err="1"/>
              <a:t>датасет</a:t>
            </a:r>
            <a:r>
              <a:rPr lang="ru-RU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11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1079" y="-181263"/>
            <a:ext cx="10515600" cy="1325563"/>
          </a:xfrm>
        </p:spPr>
        <p:txBody>
          <a:bodyPr/>
          <a:lstStyle/>
          <a:p>
            <a:r>
              <a:rPr lang="ru-RU" b="1" smtClean="0"/>
              <a:t>Результаты экспериментов</a:t>
            </a:r>
            <a:endParaRPr lang="ru-RU" b="1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912" y="998125"/>
            <a:ext cx="5020915" cy="16667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188966" y="1206691"/>
            <a:ext cx="24169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mtClean="0"/>
              <a:t>Проценты ошибок</a:t>
            </a:r>
          </a:p>
          <a:p>
            <a:r>
              <a:rPr lang="ru-RU" smtClean="0"/>
              <a:t>модели,</a:t>
            </a:r>
          </a:p>
          <a:p>
            <a:r>
              <a:rPr lang="ru-RU"/>
              <a:t>п</a:t>
            </a:r>
            <a:r>
              <a:rPr lang="ru-RU" smtClean="0"/>
              <a:t>риведённые</a:t>
            </a:r>
          </a:p>
          <a:p>
            <a:r>
              <a:rPr lang="ru-RU" smtClean="0"/>
              <a:t>в оригинальной статье</a:t>
            </a:r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325991" y="3983906"/>
            <a:ext cx="214289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smtClean="0"/>
              <a:t>Проценты точности</a:t>
            </a:r>
          </a:p>
          <a:p>
            <a:r>
              <a:rPr lang="ru-RU" b="1" smtClean="0"/>
              <a:t>полученной</a:t>
            </a:r>
          </a:p>
          <a:p>
            <a:r>
              <a:rPr lang="ru-RU" b="1" smtClean="0"/>
              <a:t>модели</a:t>
            </a:r>
            <a:endParaRPr lang="ru-RU" b="1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912" y="2877341"/>
            <a:ext cx="6666891" cy="356917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359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8249" y="-338688"/>
            <a:ext cx="10515600" cy="1325563"/>
          </a:xfrm>
        </p:spPr>
        <p:txBody>
          <a:bodyPr/>
          <a:lstStyle/>
          <a:p>
            <a:r>
              <a:rPr lang="ru-RU" b="1" smtClean="0"/>
              <a:t/>
            </a:r>
            <a:br>
              <a:rPr lang="ru-RU" b="1" smtClean="0"/>
            </a:br>
            <a:r>
              <a:rPr lang="ru-RU" b="1" smtClean="0"/>
              <a:t>Заключение</a:t>
            </a:r>
            <a:endParaRPr lang="ru-RU" b="1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748249" y="1142323"/>
            <a:ext cx="10515600" cy="4351338"/>
          </a:xfrm>
        </p:spPr>
        <p:txBody>
          <a:bodyPr>
            <a:noAutofit/>
          </a:bodyPr>
          <a:lstStyle/>
          <a:p>
            <a:r>
              <a:rPr lang="ru-RU" sz="1700" b="1" smtClean="0"/>
              <a:t>Ключевые результаты:</a:t>
            </a:r>
          </a:p>
          <a:p>
            <a:r>
              <a:rPr lang="ru-RU" sz="1700" smtClean="0"/>
              <a:t>изучены </a:t>
            </a:r>
            <a:r>
              <a:rPr lang="ru-RU" sz="1700"/>
              <a:t>и систематизированы основные термины и методы стеганографии и </a:t>
            </a:r>
            <a:r>
              <a:rPr lang="ru-RU" sz="1700" smtClean="0"/>
              <a:t>стегоанализа</a:t>
            </a:r>
            <a:endParaRPr lang="ru-RU" sz="1700"/>
          </a:p>
          <a:p>
            <a:r>
              <a:rPr lang="ru-RU" sz="1700" smtClean="0"/>
              <a:t>проведён </a:t>
            </a:r>
            <a:r>
              <a:rPr lang="ru-RU" sz="1700"/>
              <a:t>обзор современных международных достижений в применении методов глубокого обучения для стегоанализа, для воспроизведения выбрано конкретное исследование и его </a:t>
            </a:r>
            <a:r>
              <a:rPr lang="ru-RU" sz="1700" smtClean="0"/>
              <a:t>архитектура</a:t>
            </a:r>
            <a:endParaRPr lang="ru-RU" sz="1700"/>
          </a:p>
          <a:p>
            <a:r>
              <a:rPr lang="ru-RU" sz="1700" smtClean="0"/>
              <a:t>разработан </a:t>
            </a:r>
            <a:r>
              <a:rPr lang="en-US" sz="1700"/>
              <a:t>MATLAB</a:t>
            </a:r>
            <a:r>
              <a:rPr lang="ru-RU" sz="1700"/>
              <a:t>-скрипт для генерации датасетов «</a:t>
            </a:r>
            <a:r>
              <a:rPr lang="en-US" sz="1700"/>
              <a:t>S</a:t>
            </a:r>
            <a:r>
              <a:rPr lang="ru-RU" sz="1700"/>
              <a:t>-</a:t>
            </a:r>
            <a:r>
              <a:rPr lang="en-US" sz="1700"/>
              <a:t>UNIWARD</a:t>
            </a:r>
            <a:r>
              <a:rPr lang="ru-RU" sz="1700"/>
              <a:t>» с параметризированной частотой </a:t>
            </a:r>
            <a:r>
              <a:rPr lang="ru-RU" sz="1700" smtClean="0"/>
              <a:t>встраивания</a:t>
            </a:r>
            <a:endParaRPr lang="ru-RU" sz="1700"/>
          </a:p>
          <a:p>
            <a:r>
              <a:rPr lang="ru-RU" sz="1700" smtClean="0"/>
              <a:t>сформированы </a:t>
            </a:r>
            <a:r>
              <a:rPr lang="ru-RU" sz="1700"/>
              <a:t>и автоматизированы процедуры генерации наборов вредоносных примеров, выбраны 4 различных </a:t>
            </a:r>
            <a:r>
              <a:rPr lang="en-US" sz="1700"/>
              <a:t>shell</a:t>
            </a:r>
            <a:r>
              <a:rPr lang="ru-RU" sz="1700"/>
              <a:t>-скрипта, реализующих разные типы вредоносного поведения, и подготовлены скрипты построения </a:t>
            </a:r>
            <a:r>
              <a:rPr lang="ru-RU" sz="1700" smtClean="0"/>
              <a:t>датасетов</a:t>
            </a:r>
            <a:endParaRPr lang="ru-RU" sz="1700"/>
          </a:p>
          <a:p>
            <a:r>
              <a:rPr lang="ru-RU" sz="1700" smtClean="0"/>
              <a:t>построены </a:t>
            </a:r>
            <a:r>
              <a:rPr lang="ru-RU" sz="1700"/>
              <a:t>датасеты: «</a:t>
            </a:r>
            <a:r>
              <a:rPr lang="en-US" sz="1700"/>
              <a:t>S</a:t>
            </a:r>
            <a:r>
              <a:rPr lang="ru-RU" sz="1700"/>
              <a:t>-</a:t>
            </a:r>
            <a:r>
              <a:rPr lang="en-US" sz="1700"/>
              <a:t>UNIWARD</a:t>
            </a:r>
            <a:r>
              <a:rPr lang="ru-RU" sz="1700"/>
              <a:t>», «</a:t>
            </a:r>
            <a:r>
              <a:rPr lang="en-US" sz="1700"/>
              <a:t>Steghide</a:t>
            </a:r>
            <a:r>
              <a:rPr lang="ru-RU" sz="1700"/>
              <a:t>» (4 типа вредоносных shell-скриптов, встроенных с помощью </a:t>
            </a:r>
            <a:r>
              <a:rPr lang="en-US" sz="1700"/>
              <a:t>Steghide</a:t>
            </a:r>
            <a:r>
              <a:rPr lang="ru-RU" sz="1700"/>
              <a:t>), «</a:t>
            </a:r>
            <a:r>
              <a:rPr lang="en-US" sz="1700"/>
              <a:t>Stegano</a:t>
            </a:r>
            <a:r>
              <a:rPr lang="ru-RU" sz="1700"/>
              <a:t>» (4 типа скриптов, встроенных с помощью </a:t>
            </a:r>
            <a:r>
              <a:rPr lang="en-US" sz="1700"/>
              <a:t>Stegano</a:t>
            </a:r>
            <a:r>
              <a:rPr lang="ru-RU" sz="1700"/>
              <a:t>) и «</a:t>
            </a:r>
            <a:r>
              <a:rPr lang="en-US" sz="1700"/>
              <a:t>SHELL</a:t>
            </a:r>
            <a:r>
              <a:rPr lang="ru-RU" sz="1700"/>
              <a:t>» (комбинированный датасет</a:t>
            </a:r>
            <a:r>
              <a:rPr lang="ru-RU" sz="1700" smtClean="0"/>
              <a:t>)</a:t>
            </a:r>
            <a:endParaRPr lang="ru-RU" sz="1700"/>
          </a:p>
          <a:p>
            <a:r>
              <a:rPr lang="ru-RU" sz="1700" smtClean="0"/>
              <a:t>реализована </a:t>
            </a:r>
            <a:r>
              <a:rPr lang="ru-RU" sz="1700"/>
              <a:t>архитектура Yedroudj‑Net на Python, реализованы процедуры обучения и тестирования </a:t>
            </a:r>
            <a:r>
              <a:rPr lang="ru-RU" sz="1700" smtClean="0"/>
              <a:t>модели</a:t>
            </a:r>
            <a:endParaRPr lang="ru-RU" sz="1700"/>
          </a:p>
          <a:p>
            <a:r>
              <a:rPr lang="ru-RU" sz="1700" smtClean="0"/>
              <a:t>обучена </a:t>
            </a:r>
            <a:r>
              <a:rPr lang="ru-RU" sz="1700"/>
              <a:t>модель Yedroudj‑Net на «</a:t>
            </a:r>
            <a:r>
              <a:rPr lang="en-US" sz="1700"/>
              <a:t>S</a:t>
            </a:r>
            <a:r>
              <a:rPr lang="ru-RU" sz="1700"/>
              <a:t>-</a:t>
            </a:r>
            <a:r>
              <a:rPr lang="en-US" sz="1700"/>
              <a:t>UNIWARD</a:t>
            </a:r>
            <a:r>
              <a:rPr lang="ru-RU" sz="1700"/>
              <a:t>» и на «</a:t>
            </a:r>
            <a:r>
              <a:rPr lang="en-US" sz="1700"/>
              <a:t>SHELL</a:t>
            </a:r>
            <a:r>
              <a:rPr lang="ru-RU" sz="1700"/>
              <a:t>», воспроизведены результаты авторов исследования на соответствующих </a:t>
            </a:r>
            <a:r>
              <a:rPr lang="ru-RU" sz="1700" smtClean="0"/>
              <a:t>наборах</a:t>
            </a:r>
            <a:endParaRPr lang="ru-RU" sz="1700"/>
          </a:p>
          <a:p>
            <a:r>
              <a:rPr lang="ru-RU" sz="1700" smtClean="0"/>
              <a:t>впервые </a:t>
            </a:r>
            <a:r>
              <a:rPr lang="ru-RU" sz="1700"/>
              <a:t>получены результаты тестирования архитектуры Yedroudj‑Net на датасетах, содержащих образцы </a:t>
            </a:r>
            <a:r>
              <a:rPr lang="ru-RU" sz="1700" smtClean="0"/>
              <a:t>вредоносных </a:t>
            </a:r>
            <a:r>
              <a:rPr lang="en-US" sz="1700" smtClean="0"/>
              <a:t>shell-</a:t>
            </a:r>
            <a:r>
              <a:rPr lang="ru-RU" sz="1700" smtClean="0"/>
              <a:t>скриптов, </a:t>
            </a:r>
            <a:r>
              <a:rPr lang="ru-RU" sz="1700"/>
              <a:t>что демонстрирует возможность применения стегоаналитических нейросетей для задач обнаружения </a:t>
            </a:r>
            <a:r>
              <a:rPr lang="ru-RU" sz="1700" smtClean="0"/>
              <a:t>вредоносного ПО в стегоконтейнерах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1024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b="1" smtClean="0"/>
              <a:t>Спасибо за внимание!</a:t>
            </a:r>
            <a:endParaRPr lang="ru-RU" b="1"/>
          </a:p>
        </p:txBody>
      </p:sp>
    </p:spTree>
    <p:extLst>
      <p:ext uri="{BB962C8B-B14F-4D97-AF65-F5344CB8AC3E}">
        <p14:creationId xmlns:p14="http://schemas.microsoft.com/office/powerpoint/2010/main" val="313673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1959</TotalTime>
  <Words>458</Words>
  <Application>Microsoft Office PowerPoint</Application>
  <PresentationFormat>Широкоэкранный</PresentationFormat>
  <Paragraphs>89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Введение</vt:lpstr>
      <vt:lpstr>Основные понятия</vt:lpstr>
      <vt:lpstr>Стеганография в кибератаках</vt:lpstr>
      <vt:lpstr>Методы стегоанализа</vt:lpstr>
      <vt:lpstr>Архитектура Yedroudj-Net</vt:lpstr>
      <vt:lpstr>Подготовка данных</vt:lpstr>
      <vt:lpstr>Обучение модели</vt:lpstr>
      <vt:lpstr>Результаты экспериментов</vt:lpstr>
      <vt:lpstr> 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31</cp:revision>
  <dcterms:created xsi:type="dcterms:W3CDTF">2025-12-16T15:53:01Z</dcterms:created>
  <dcterms:modified xsi:type="dcterms:W3CDTF">2026-04-16T09:14:29Z</dcterms:modified>
</cp:coreProperties>
</file>